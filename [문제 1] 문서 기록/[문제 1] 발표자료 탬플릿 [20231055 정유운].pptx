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258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7E6DFF"/>
    <a:srgbClr val="370383"/>
    <a:srgbClr val="BDBDFF"/>
    <a:srgbClr val="AEA3FF"/>
    <a:srgbClr val="555555"/>
    <a:srgbClr val="9485FF"/>
    <a:srgbClr val="D9D9FF"/>
    <a:srgbClr val="9999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FFF92-2FF4-4B51-B488-456F66271F8E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F00E4-E3F3-4612-96D8-99BCAF3F1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96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F00E4-E3F3-4612-96D8-99BCAF3F14E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735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F0865-D32C-BD3B-B52E-5A556C46D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FBBBB5-16C7-3C22-7D38-331BA9FF3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4BCC5-D6BB-6349-75B7-712C5F9C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290D86-02F7-7BF8-D2E1-11EAEDDF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69FDEC-3585-0F37-716D-FFCFC3F7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00CD3-DBEA-BB0A-BD92-D8B17F68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F2A56-7EE2-C2AA-CC46-7657E4C4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47935-42B6-D2F6-F732-B6A1CB72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DB506-0125-7FA4-B491-09DA8BEA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07B7D-0E0E-E04E-3ACA-E39B8088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4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F9047-C084-7197-8714-2A8468AC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41B07-ABEC-5F75-1BC2-0FF41C965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80B32-7C85-F92D-CE6F-A6BED8B1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C46D80-EF04-2C4B-834D-B1D13B39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548CA-C57E-E4D5-F95A-835CCCD8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1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C6333-FF5C-FA33-0FE0-6DABEDA4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F75141-527B-A569-ABC6-1C5508EF2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4A56E3-6576-E7BC-52BA-E8F5A2476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F550B7-5886-C5B5-4979-E31284BF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C8529A-143F-FC45-A39D-60C7F6AC7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AA6C7D-6398-BEEC-6617-6B6445F7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46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E2405-8E1A-3B89-18A4-58AEBD00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3E39FB-6083-5A5A-1D3C-5FF83722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3065C7-248E-9340-0B82-71ACEE35A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477AB8-6CA7-9C51-0456-A4FDEAF45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7DE2E0-7083-E080-5A0D-ED08AE838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A070-6F44-FB71-80BA-FD6D83F3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076212-A459-4EF3-3D7D-33D53087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99141D-4722-635D-CF0B-4E2216D4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9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D182B-2060-FDE0-0595-742C85CE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F99BFF-84C8-3150-E2D3-908F66E7A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BD25BD-C277-05BE-AD50-76E4EDCB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D72AF2-CCF0-9C2B-75AB-E93E870A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1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7E5481-B0F0-E358-AD4C-5997253A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8DD250-60F0-33F5-4924-2C0C632A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214B3-160F-0BC0-8FD5-53BC3CF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2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FA32C-D9EC-611F-D4F4-1031F17C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BAE50-B533-9A3A-C0FA-D616CEF7C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36E559-F0F2-8C41-9D07-1D47FAFA1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8DEEBE-30D3-2FA6-13D8-EE09AA6A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321ED5-E471-4466-F402-24AC764C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29BEB-7813-AF44-4729-10F0E15A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14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45158-95B0-026D-6689-018F5427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4503A3-7879-9009-C1A1-7D85AD9AF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7AC338-C5C7-4EA7-978D-F0D648BA2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9B1D3C-4C35-D96D-4944-A4D12D50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DFAD8-85AC-0DA7-BADF-C58333A0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1A2AFE-A201-D603-ABB8-CBB3537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49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AB70C-A452-BD23-73E7-E1703A5A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A490B3-06FA-DA20-C0F7-649A48846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B36983-F1F3-1FF0-41A9-FDBA6B50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C56D59-588B-4253-0956-90E15EFE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3E0D14-EB52-373D-5E71-57F717BE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40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882BFF-9986-5180-BC76-F46F2DA76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2FABF1-14B0-6AC8-5D25-86DFA7367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395D0-13BA-5605-4420-3BE1D479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8ECA3B-069F-999A-72E3-3007B7E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4E2BFB-C819-C0BD-2C31-3047C69D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89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3E5C2B-F031-9EF8-0A09-5204296D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F4C684-CC87-7A60-7CA5-D1E1757F9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84BBB-5EC1-F888-D25A-60AC1AAAB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6CE2CC-EDDD-7619-6CC0-19C30635C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A11A59-2FA8-E9EA-1845-2746E00A2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85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5C4F3E-A3F4-052D-73E0-97A37197FA3A}"/>
              </a:ext>
            </a:extLst>
          </p:cNvPr>
          <p:cNvSpPr/>
          <p:nvPr/>
        </p:nvSpPr>
        <p:spPr>
          <a:xfrm>
            <a:off x="6438900" y="3030764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3D27E355-A1FB-8929-3338-2B0622D7D2C8}"/>
              </a:ext>
            </a:extLst>
          </p:cNvPr>
          <p:cNvSpPr/>
          <p:nvPr/>
        </p:nvSpPr>
        <p:spPr>
          <a:xfrm>
            <a:off x="3340100" y="4510314"/>
            <a:ext cx="914400" cy="914400"/>
          </a:xfrm>
          <a:custGeom>
            <a:avLst/>
            <a:gdLst>
              <a:gd name="csX0" fmla="*/ 457200 w 914400"/>
              <a:gd name="csY0" fmla="*/ 0 h 914400"/>
              <a:gd name="csX1" fmla="*/ 914400 w 914400"/>
              <a:gd name="csY1" fmla="*/ 457200 h 914400"/>
              <a:gd name="csX2" fmla="*/ 457200 w 914400"/>
              <a:gd name="csY2" fmla="*/ 914400 h 914400"/>
              <a:gd name="csX3" fmla="*/ 0 w 914400"/>
              <a:gd name="csY3" fmla="*/ 457200 h 914400"/>
              <a:gd name="csX4" fmla="*/ 457200 w 914400"/>
              <a:gd name="csY4" fmla="*/ 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1ABFE2CC-8A5E-650B-7E19-A5CA5646CB58}"/>
              </a:ext>
            </a:extLst>
          </p:cNvPr>
          <p:cNvSpPr/>
          <p:nvPr/>
        </p:nvSpPr>
        <p:spPr>
          <a:xfrm>
            <a:off x="4165600" y="4281714"/>
            <a:ext cx="457200" cy="457200"/>
          </a:xfrm>
          <a:custGeom>
            <a:avLst/>
            <a:gdLst>
              <a:gd name="csX0" fmla="*/ 0 w 457200"/>
              <a:gd name="csY0" fmla="*/ 0 h 457200"/>
              <a:gd name="csX1" fmla="*/ 457200 w 457200"/>
              <a:gd name="csY1" fmla="*/ 0 h 457200"/>
              <a:gd name="csX2" fmla="*/ 0 w 457200"/>
              <a:gd name="csY2" fmla="*/ 457200 h 457200"/>
              <a:gd name="csX3" fmla="*/ 0 w 457200"/>
              <a:gd name="csY3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cubicBezTo>
                  <a:pt x="204695" y="0"/>
                  <a:pt x="0" y="204695"/>
                  <a:pt x="0" y="457200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176CEB02-D744-419C-03F5-E4757DB930D1}"/>
              </a:ext>
            </a:extLst>
          </p:cNvPr>
          <p:cNvSpPr/>
          <p:nvPr/>
        </p:nvSpPr>
        <p:spPr>
          <a:xfrm>
            <a:off x="4165600" y="4738914"/>
            <a:ext cx="457200" cy="457200"/>
          </a:xfrm>
          <a:custGeom>
            <a:avLst/>
            <a:gdLst>
              <a:gd name="csX0" fmla="*/ 0 w 457200"/>
              <a:gd name="csY0" fmla="*/ 0 h 457200"/>
              <a:gd name="csX1" fmla="*/ 457200 w 457200"/>
              <a:gd name="csY1" fmla="*/ 457200 h 457200"/>
              <a:gd name="csX2" fmla="*/ 0 w 457200"/>
              <a:gd name="csY2" fmla="*/ 457200 h 457200"/>
              <a:gd name="csX3" fmla="*/ 0 w 457200"/>
              <a:gd name="csY3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7200" h="457200">
                <a:moveTo>
                  <a:pt x="0" y="0"/>
                </a:moveTo>
                <a:cubicBezTo>
                  <a:pt x="0" y="252505"/>
                  <a:pt x="204695" y="457200"/>
                  <a:pt x="457200" y="457200"/>
                </a:cubicBez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BBB30B6A-20E1-36D0-EAFD-5A2A278D4400}"/>
              </a:ext>
            </a:extLst>
          </p:cNvPr>
          <p:cNvSpPr/>
          <p:nvPr/>
        </p:nvSpPr>
        <p:spPr>
          <a:xfrm>
            <a:off x="4622800" y="4738914"/>
            <a:ext cx="457200" cy="457200"/>
          </a:xfrm>
          <a:custGeom>
            <a:avLst/>
            <a:gdLst>
              <a:gd name="csX0" fmla="*/ 457200 w 457200"/>
              <a:gd name="csY0" fmla="*/ 0 h 457200"/>
              <a:gd name="csX1" fmla="*/ 457200 w 457200"/>
              <a:gd name="csY1" fmla="*/ 457200 h 457200"/>
              <a:gd name="csX2" fmla="*/ 0 w 457200"/>
              <a:gd name="csY2" fmla="*/ 457200 h 457200"/>
              <a:gd name="csX3" fmla="*/ 457200 w 457200"/>
              <a:gd name="csY3" fmla="*/ 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7200" h="457200">
                <a:moveTo>
                  <a:pt x="457200" y="0"/>
                </a:moveTo>
                <a:lnTo>
                  <a:pt x="457200" y="457200"/>
                </a:lnTo>
                <a:lnTo>
                  <a:pt x="0" y="457200"/>
                </a:lnTo>
                <a:cubicBezTo>
                  <a:pt x="252505" y="457200"/>
                  <a:pt x="457200" y="252505"/>
                  <a:pt x="4572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75F9D23-AA00-4D4A-0217-2DBA708A036E}"/>
              </a:ext>
            </a:extLst>
          </p:cNvPr>
          <p:cNvGrpSpPr/>
          <p:nvPr/>
        </p:nvGrpSpPr>
        <p:grpSpPr>
          <a:xfrm>
            <a:off x="0" y="0"/>
            <a:ext cx="2881450" cy="2881450"/>
            <a:chOff x="0" y="0"/>
            <a:chExt cx="2881450" cy="2881450"/>
          </a:xfrm>
          <a:solidFill>
            <a:srgbClr val="370383">
              <a:alpha val="3922"/>
            </a:srgbClr>
          </a:solidFill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18F08A27-5FCD-AAF4-2274-064FF44CCC23}"/>
                </a:ext>
              </a:extLst>
            </p:cNvPr>
            <p:cNvGrpSpPr/>
            <p:nvPr/>
          </p:nvGrpSpPr>
          <p:grpSpPr>
            <a:xfrm>
              <a:off x="0" y="0"/>
              <a:ext cx="1441450" cy="1441450"/>
              <a:chOff x="6559550" y="3297464"/>
              <a:chExt cx="1441450" cy="1441450"/>
            </a:xfrm>
            <a:grpFill/>
          </p:grpSpPr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D221DE2C-7AFB-39C4-B0C8-795BB07DDB91}"/>
                  </a:ext>
                </a:extLst>
              </p:cNvPr>
              <p:cNvSpPr/>
              <p:nvPr/>
            </p:nvSpPr>
            <p:spPr>
              <a:xfrm flipH="1">
                <a:off x="6559550" y="3824514"/>
                <a:ext cx="914400" cy="91440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C60CFDCB-0D11-E351-DBC4-5D448ABE6B84}"/>
                  </a:ext>
                </a:extLst>
              </p:cNvPr>
              <p:cNvSpPr/>
              <p:nvPr/>
            </p:nvSpPr>
            <p:spPr>
              <a:xfrm rot="2700000" flipH="1">
                <a:off x="7473950" y="3297464"/>
                <a:ext cx="527050" cy="52705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73F3EDA-861A-9B01-6FA0-F6C249B41799}"/>
                </a:ext>
              </a:extLst>
            </p:cNvPr>
            <p:cNvGrpSpPr/>
            <p:nvPr/>
          </p:nvGrpSpPr>
          <p:grpSpPr>
            <a:xfrm>
              <a:off x="0" y="1440000"/>
              <a:ext cx="1441450" cy="1441450"/>
              <a:chOff x="6559550" y="3297464"/>
              <a:chExt cx="1441450" cy="1441450"/>
            </a:xfrm>
            <a:grpFill/>
          </p:grpSpPr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828D9918-9F49-396B-B265-DAD7E90624BA}"/>
                  </a:ext>
                </a:extLst>
              </p:cNvPr>
              <p:cNvSpPr/>
              <p:nvPr/>
            </p:nvSpPr>
            <p:spPr>
              <a:xfrm rot="2700000" flipH="1">
                <a:off x="6559550" y="3824514"/>
                <a:ext cx="914400" cy="91440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E06189C2-3D7C-5DC9-944D-0094F3FD8F04}"/>
                  </a:ext>
                </a:extLst>
              </p:cNvPr>
              <p:cNvSpPr/>
              <p:nvPr/>
            </p:nvSpPr>
            <p:spPr>
              <a:xfrm flipH="1">
                <a:off x="7473950" y="3297464"/>
                <a:ext cx="527050" cy="52705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11729B21-DCFB-EC70-80A6-5F9865F57891}"/>
                </a:ext>
              </a:extLst>
            </p:cNvPr>
            <p:cNvGrpSpPr/>
            <p:nvPr/>
          </p:nvGrpSpPr>
          <p:grpSpPr>
            <a:xfrm>
              <a:off x="1440000" y="1440000"/>
              <a:ext cx="1441450" cy="1441450"/>
              <a:chOff x="6559550" y="3297464"/>
              <a:chExt cx="1441450" cy="1441450"/>
            </a:xfrm>
            <a:grpFill/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E37BCD64-AA46-4DEC-B752-C6AAD623258B}"/>
                  </a:ext>
                </a:extLst>
              </p:cNvPr>
              <p:cNvSpPr/>
              <p:nvPr/>
            </p:nvSpPr>
            <p:spPr>
              <a:xfrm flipH="1">
                <a:off x="6559550" y="3824514"/>
                <a:ext cx="914400" cy="91440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9B49A4E8-915F-2BA3-6E7F-F1FD8E87658D}"/>
                  </a:ext>
                </a:extLst>
              </p:cNvPr>
              <p:cNvSpPr/>
              <p:nvPr/>
            </p:nvSpPr>
            <p:spPr>
              <a:xfrm rot="2700000" flipH="1">
                <a:off x="7473950" y="3297464"/>
                <a:ext cx="527050" cy="52705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707544C-5B59-2EEA-1F3A-F52D72948B73}"/>
                </a:ext>
              </a:extLst>
            </p:cNvPr>
            <p:cNvGrpSpPr/>
            <p:nvPr/>
          </p:nvGrpSpPr>
          <p:grpSpPr>
            <a:xfrm>
              <a:off x="1440000" y="0"/>
              <a:ext cx="1441450" cy="1441450"/>
              <a:chOff x="6559550" y="3297464"/>
              <a:chExt cx="1441450" cy="1441450"/>
            </a:xfrm>
            <a:grpFill/>
          </p:grpSpPr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CB72B222-D74D-4D9C-AC95-689FEFE217E5}"/>
                  </a:ext>
                </a:extLst>
              </p:cNvPr>
              <p:cNvSpPr/>
              <p:nvPr/>
            </p:nvSpPr>
            <p:spPr>
              <a:xfrm rot="2700000" flipH="1">
                <a:off x="6559550" y="3824514"/>
                <a:ext cx="914400" cy="91440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0253A01B-CD71-3092-116E-263E8074E6DD}"/>
                  </a:ext>
                </a:extLst>
              </p:cNvPr>
              <p:cNvSpPr/>
              <p:nvPr/>
            </p:nvSpPr>
            <p:spPr>
              <a:xfrm flipH="1">
                <a:off x="7473950" y="3297464"/>
                <a:ext cx="527050" cy="527050"/>
              </a:xfrm>
              <a:custGeom>
                <a:avLst/>
                <a:gdLst>
                  <a:gd name="csX0" fmla="*/ 457200 w 914400"/>
                  <a:gd name="csY0" fmla="*/ 914400 h 914400"/>
                  <a:gd name="csX1" fmla="*/ 0 w 914400"/>
                  <a:gd name="csY1" fmla="*/ 457200 h 914400"/>
                  <a:gd name="csX2" fmla="*/ 457200 w 914400"/>
                  <a:gd name="csY2" fmla="*/ 0 h 914400"/>
                  <a:gd name="csX3" fmla="*/ 914400 w 914400"/>
                  <a:gd name="csY3" fmla="*/ 457200 h 914400"/>
                  <a:gd name="csX4" fmla="*/ 457200 w 914400"/>
                  <a:gd name="csY4" fmla="*/ 91440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14400" h="914400">
                    <a:moveTo>
                      <a:pt x="457200" y="914400"/>
                    </a:moveTo>
                    <a:cubicBezTo>
                      <a:pt x="457200" y="661895"/>
                      <a:pt x="252505" y="457200"/>
                      <a:pt x="0" y="457200"/>
                    </a:cubicBezTo>
                    <a:cubicBezTo>
                      <a:pt x="252505" y="457200"/>
                      <a:pt x="457200" y="252505"/>
                      <a:pt x="457200" y="0"/>
                    </a:cubicBezTo>
                    <a:cubicBezTo>
                      <a:pt x="457200" y="252505"/>
                      <a:pt x="661895" y="457200"/>
                      <a:pt x="914400" y="457200"/>
                    </a:cubicBezTo>
                    <a:cubicBezTo>
                      <a:pt x="661895" y="457200"/>
                      <a:pt x="457200" y="661895"/>
                      <a:pt x="457200" y="91440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766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4C53B-5E74-9375-29A1-6C2EF81F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3BF17A5-7543-E07E-4CFD-BAA33AB7640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E9AE9E7-3E21-D6E6-FF39-28D708BF419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E5DF769-A3C7-B8F1-93A9-7B0374CEF9A9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B8F4A648-BF76-2E87-DE14-C5CFBEB467E8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DAA0BC2-F0F5-1F7E-C910-A5C04678B0A7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9059837-5F07-B494-07CB-89ECE39F3709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F36B08C-C31A-6212-BE6E-CB5483C44C2E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68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81660498-1139-7BD0-99A4-B8259455A77B}"/>
              </a:ext>
            </a:extLst>
          </p:cNvPr>
          <p:cNvGrpSpPr/>
          <p:nvPr/>
        </p:nvGrpSpPr>
        <p:grpSpPr>
          <a:xfrm>
            <a:off x="1923222" y="2212246"/>
            <a:ext cx="8345554" cy="2874559"/>
            <a:chOff x="1923222" y="2212246"/>
            <a:chExt cx="8345554" cy="287455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C6D54EB-172A-D350-45FC-E74515CA3A5C}"/>
                </a:ext>
              </a:extLst>
            </p:cNvPr>
            <p:cNvSpPr txBox="1"/>
            <p:nvPr/>
          </p:nvSpPr>
          <p:spPr>
            <a:xfrm>
              <a:off x="1923222" y="2212246"/>
              <a:ext cx="834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6000" b="1" dirty="0">
                  <a:ln w="12700">
                    <a:solidFill>
                      <a:srgbClr val="7E6DFF"/>
                    </a:solidFill>
                  </a:ln>
                  <a:solidFill>
                    <a:schemeClr val="bg1"/>
                  </a:solidFill>
                  <a:latin typeface="Cafe24 Ohsquare" panose="02000A00000000000000" pitchFamily="2" charset="-127"/>
                  <a:ea typeface="Cafe24 Ohsquare" panose="02000A00000000000000" pitchFamily="2" charset="-127"/>
                </a:rPr>
                <a:t>청춘 일상 다이어트 총력전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1F630C-922F-6FD2-FA45-B545F6BD1740}"/>
                </a:ext>
              </a:extLst>
            </p:cNvPr>
            <p:cNvSpPr txBox="1"/>
            <p:nvPr/>
          </p:nvSpPr>
          <p:spPr>
            <a:xfrm>
              <a:off x="4585809" y="4255655"/>
              <a:ext cx="3020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개발자 </a:t>
              </a:r>
              <a:r>
                <a:rPr lang="en-US" altLang="ko-KR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: </a:t>
              </a:r>
              <a:r>
                <a:rPr lang="ko-KR" altLang="en-US" dirty="0" err="1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정유운</a:t>
              </a:r>
              <a:r>
                <a:rPr lang="ko-KR" altLang="en-US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 </a:t>
              </a:r>
              <a:r>
                <a:rPr lang="en-US" altLang="ko-KR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[20231055]</a:t>
              </a:r>
              <a:endParaRPr lang="ko-KR" altLang="en-US" dirty="0">
                <a:ln w="12700">
                  <a:noFill/>
                </a:ln>
                <a:solidFill>
                  <a:schemeClr val="bg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C60669-B059-91F1-50F9-A7986CA36402}"/>
                </a:ext>
              </a:extLst>
            </p:cNvPr>
            <p:cNvSpPr txBox="1"/>
            <p:nvPr/>
          </p:nvSpPr>
          <p:spPr>
            <a:xfrm>
              <a:off x="4585809" y="4717473"/>
              <a:ext cx="3235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발주자 </a:t>
              </a:r>
              <a:r>
                <a:rPr lang="en-US" altLang="ko-KR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: </a:t>
              </a:r>
              <a:r>
                <a:rPr lang="ko-KR" altLang="en-US" dirty="0" err="1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오은찬</a:t>
              </a:r>
              <a:r>
                <a:rPr lang="ko-KR" altLang="en-US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 </a:t>
              </a:r>
              <a:r>
                <a:rPr lang="en-US" altLang="ko-KR" dirty="0">
                  <a:ln w="12700">
                    <a:noFill/>
                  </a:ln>
                  <a:solidFill>
                    <a:schemeClr val="bg1"/>
                  </a:solidFill>
                  <a:latin typeface="Cafe24 Ohsquare air Light" panose="02000300000000000000" pitchFamily="2" charset="-127"/>
                  <a:ea typeface="Cafe24 Ohsquare air Light" panose="02000300000000000000" pitchFamily="2" charset="-127"/>
                </a:rPr>
                <a:t>[2023114991]</a:t>
              </a:r>
              <a:endParaRPr lang="ko-KR" altLang="en-US" dirty="0">
                <a:ln w="12700">
                  <a:noFill/>
                </a:ln>
                <a:solidFill>
                  <a:schemeClr val="bg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84B9ABEF-1605-2857-733C-B62698E28F0B}"/>
              </a:ext>
            </a:extLst>
          </p:cNvPr>
          <p:cNvGrpSpPr/>
          <p:nvPr/>
        </p:nvGrpSpPr>
        <p:grpSpPr>
          <a:xfrm>
            <a:off x="-11088920" y="-2346211"/>
            <a:ext cx="11088920" cy="4692422"/>
            <a:chOff x="551537" y="1675323"/>
            <a:chExt cx="11088920" cy="469242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6D9756E-1200-5FD7-6825-55A4ED3EFE48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B52D94-F1AB-6A30-48AD-A91BAB2B8543}"/>
                </a:ext>
              </a:extLst>
            </p:cNvPr>
            <p:cNvSpPr txBox="1"/>
            <p:nvPr/>
          </p:nvSpPr>
          <p:spPr>
            <a:xfrm>
              <a:off x="1362075" y="3672379"/>
              <a:ext cx="9453336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 생활 맞춤형 식단 및 체중 관리 어플리케이션으로 식단 및 체중을 보다 더 간편하고 세부적으로 관리하기 위해 만들어 졌으며 해당 소프트웨어를 통하여 사용자가 현재 건강 상태를 자신의 식습관과 체중을 통해 파악하고 더 나아가 식습관 관리를 통하여 건강 상태를 한 층 끌어올릴 수 있게 만들 수 있도록 한다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.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9DF29F-EE9B-9ED0-5D07-69316E06C00F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(1)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프로젝트 목적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B6D19A3-BA50-8197-C330-9B8CAF74DE98}"/>
              </a:ext>
            </a:extLst>
          </p:cNvPr>
          <p:cNvGrpSpPr/>
          <p:nvPr/>
        </p:nvGrpSpPr>
        <p:grpSpPr>
          <a:xfrm>
            <a:off x="-11716663" y="3885123"/>
            <a:ext cx="11088920" cy="4692422"/>
            <a:chOff x="551537" y="1675323"/>
            <a:chExt cx="11088920" cy="4692422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976DE801-E497-1531-F271-D5496F803C52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5A3055-47DE-BE77-8A77-1F5160601037}"/>
                </a:ext>
              </a:extLst>
            </p:cNvPr>
            <p:cNvSpPr txBox="1"/>
            <p:nvPr/>
          </p:nvSpPr>
          <p:spPr>
            <a:xfrm>
              <a:off x="1128486" y="3303674"/>
              <a:ext cx="9920514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사용 언어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:  Python 3.14</a:t>
              </a: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주요 라이브러리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: 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Tkinter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Json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파일 구성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: 1. main.py</a:t>
              </a: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                  2. Services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폴더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gui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operation, data manager)</a:t>
              </a: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	      3. Data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폴더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(backup 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폴더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records.json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food.json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)  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9EA895-E057-2D4D-E3D0-2376C1B07FEF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(2) </a:t>
              </a:r>
              <a:r>
                <a:rPr lang="ko-KR" altLang="en-US" sz="32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어플리케이션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 구성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BBBB19E-466E-C6FB-84AD-92FBF8AB0FA0}"/>
              </a:ext>
            </a:extLst>
          </p:cNvPr>
          <p:cNvGrpSpPr/>
          <p:nvPr/>
        </p:nvGrpSpPr>
        <p:grpSpPr>
          <a:xfrm>
            <a:off x="-10278382" y="13460923"/>
            <a:ext cx="11088920" cy="4692422"/>
            <a:chOff x="551537" y="1675323"/>
            <a:chExt cx="11088920" cy="4692422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52DD510-F390-2E73-8733-2E7A08C15E8F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8AD58F-B715-2E4A-D74F-EA88B8756C33}"/>
                </a:ext>
              </a:extLst>
            </p:cNvPr>
            <p:cNvSpPr txBox="1"/>
            <p:nvPr/>
          </p:nvSpPr>
          <p:spPr>
            <a:xfrm>
              <a:off x="4601029" y="3303674"/>
              <a:ext cx="2975428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음식 데이터 관리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식단 데이터 관리</a:t>
              </a:r>
              <a:endPara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식단 조회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최근 체중 경향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목표 달성 여부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FD96CC-6F99-7CDE-A2CA-0B02B0B95218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(3) </a:t>
              </a:r>
              <a:r>
                <a:rPr lang="ko-KR" altLang="en-US" sz="32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주요 기능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04F21D0-73A2-CC3D-5DF3-A5D2F2B33F2B}"/>
              </a:ext>
            </a:extLst>
          </p:cNvPr>
          <p:cNvGrpSpPr/>
          <p:nvPr/>
        </p:nvGrpSpPr>
        <p:grpSpPr>
          <a:xfrm>
            <a:off x="-10906125" y="30021723"/>
            <a:ext cx="11088920" cy="4692422"/>
            <a:chOff x="551537" y="1675323"/>
            <a:chExt cx="11088920" cy="4692422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70421C5-9B9C-6B28-92CC-15E789BDAB22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45251C-A396-7B18-0EA9-819459A8AEB7}"/>
                </a:ext>
              </a:extLst>
            </p:cNvPr>
            <p:cNvSpPr txBox="1"/>
            <p:nvPr/>
          </p:nvSpPr>
          <p:spPr>
            <a:xfrm>
              <a:off x="2322286" y="3303674"/>
              <a:ext cx="753291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해당 어플리케이션은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GitHub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를 통하여 </a:t>
              </a:r>
              <a:r>
                <a:rPr kumimoji="0" lang="ko-KR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베포하고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 있으며 버그가 발생되어 수정하는 경우 새로운 버전으로 </a:t>
              </a:r>
              <a:r>
                <a:rPr lang="ko-KR" altLang="en-US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재출시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할 예정이다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</a:t>
              </a:r>
            </a:p>
            <a:p>
              <a:pPr marR="0" lvl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R="0" lvl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[GitHub Link] - https://github.com/Comatine/Software-Project-P1-Group-5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96DB5D-D75E-22A7-CFA1-A3570437BAEE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(4)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운영 및 유지 보수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322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236022-ABD2-1B18-AC9B-D502687151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29B8E-E778-31B0-9375-6C286765CD7A}"/>
              </a:ext>
            </a:extLst>
          </p:cNvPr>
          <p:cNvSpPr txBox="1"/>
          <p:nvPr/>
        </p:nvSpPr>
        <p:spPr>
          <a:xfrm>
            <a:off x="0" y="0"/>
            <a:ext cx="3149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7E6DFF"/>
                </a:solidFill>
              </a:rPr>
              <a:t>소프트웨어프로젝트</a:t>
            </a:r>
            <a:r>
              <a:rPr lang="en-US" altLang="ko-KR" sz="1200" b="1" dirty="0">
                <a:solidFill>
                  <a:srgbClr val="7E6DFF"/>
                </a:solidFill>
              </a:rPr>
              <a:t>-02 / </a:t>
            </a:r>
            <a:r>
              <a:rPr lang="ko-KR" altLang="en-US" sz="1200" b="1" dirty="0">
                <a:solidFill>
                  <a:srgbClr val="7E6DFF"/>
                </a:solidFill>
              </a:rPr>
              <a:t>문제 </a:t>
            </a:r>
            <a:r>
              <a:rPr lang="en-US" altLang="ko-KR" sz="1200" b="1" dirty="0">
                <a:solidFill>
                  <a:srgbClr val="7E6DFF"/>
                </a:solidFill>
              </a:rPr>
              <a:t>1 Group 5</a:t>
            </a:r>
            <a:r>
              <a:rPr lang="ko-KR" altLang="en-US" sz="1200" b="1" dirty="0">
                <a:solidFill>
                  <a:srgbClr val="7E6DFF"/>
                </a:solidFill>
              </a:rPr>
              <a:t> 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6DB45DE-B778-B541-E6DB-0D6AEAE16314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EDD8BCE-C2CF-28B6-3EB4-E69ED2AEC623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C4D185D-5277-52E6-7493-25F01B69B9EA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41FE377-3690-2DC5-E424-A5DB84807FEE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713E423-2D5F-2702-8D94-8899BB2E2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878" y="1947543"/>
            <a:ext cx="8352244" cy="2962913"/>
          </a:xfrm>
          <a:prstGeom prst="rect">
            <a:avLst/>
          </a:prstGeom>
          <a:effectLst>
            <a:outerShdw blurRad="279400" sx="102000" sy="102000" algn="ctr" rotWithShape="0">
              <a:srgbClr val="000066">
                <a:alpha val="2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905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A13F8-F6F5-5F24-FA0A-8953E28C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EBAF388-AF0F-6F81-0479-FAF8C5A4B8C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E43837E-57F3-0421-49EA-50EDBF27EAC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2AD094-7367-1279-5C30-4E5F462E13E0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34F7B8C3-09FA-5BAB-2AA8-BF0A3D256A1E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7AFE020-7D8A-08C0-8D49-A8EC1A86EC25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BC75996-EF77-F16F-A7AC-14C79E1B61F7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8C30373-2B0B-EAED-1ABC-5D2DEB122D27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33D3C-8085-5C6C-AFE4-B56CD94004F2}"/>
              </a:ext>
            </a:extLst>
          </p:cNvPr>
          <p:cNvSpPr txBox="1"/>
          <p:nvPr/>
        </p:nvSpPr>
        <p:spPr>
          <a:xfrm>
            <a:off x="3556680" y="549617"/>
            <a:ext cx="50786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청춘 일상 다이어트 총력전</a:t>
            </a:r>
            <a:endParaRPr lang="en-US" altLang="ko-KR" sz="3600" b="1" dirty="0">
              <a:ln w="12700">
                <a:solidFill>
                  <a:srgbClr val="7E6DFF"/>
                </a:solidFill>
              </a:ln>
              <a:solidFill>
                <a:schemeClr val="bg1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latin typeface="Cafe24 Ohsquare" panose="02000A00000000000000" pitchFamily="2" charset="-127"/>
              <a:ea typeface="Cafe24 Ohsquare" panose="02000A00000000000000" pitchFamily="2" charset="-127"/>
            </a:endParaRPr>
          </a:p>
          <a:p>
            <a:pPr algn="ctr"/>
            <a:r>
              <a:rPr lang="en-US" altLang="ko-KR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&lt; 1. </a:t>
            </a:r>
            <a:r>
              <a:rPr lang="ko-KR" altLang="en-US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개요 </a:t>
            </a:r>
            <a:r>
              <a:rPr lang="en-US" altLang="ko-KR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&gt;</a:t>
            </a:r>
            <a:endParaRPr lang="ko-KR" altLang="en-US" sz="2000" b="1" dirty="0">
              <a:ln w="12700">
                <a:solidFill>
                  <a:srgbClr val="7E6DFF"/>
                </a:solidFill>
              </a:ln>
              <a:solidFill>
                <a:schemeClr val="bg1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latin typeface="Cafe24 Ohsquare" panose="02000A00000000000000" pitchFamily="2" charset="-127"/>
              <a:ea typeface="Cafe24 Ohsquare" panose="02000A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CBD47-9EBB-1698-CD1B-2A08C2323498}"/>
              </a:ext>
            </a:extLst>
          </p:cNvPr>
          <p:cNvGrpSpPr/>
          <p:nvPr/>
        </p:nvGrpSpPr>
        <p:grpSpPr>
          <a:xfrm>
            <a:off x="551537" y="1675323"/>
            <a:ext cx="11088920" cy="4692422"/>
            <a:chOff x="551537" y="1675323"/>
            <a:chExt cx="11088920" cy="469242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D57DA569-EA2A-A81D-C371-7013D27BCDFA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0066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56AFB5-3610-AFA3-2971-3F17B89BDA16}"/>
                </a:ext>
              </a:extLst>
            </p:cNvPr>
            <p:cNvSpPr txBox="1"/>
            <p:nvPr/>
          </p:nvSpPr>
          <p:spPr>
            <a:xfrm>
              <a:off x="1362075" y="3672379"/>
              <a:ext cx="9453336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sz="24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식단 및 체중을 보다 더 간편하고 세부적으로 관리하기 위해 만들어 졌으며 해당 소프트웨어를 통하여 사용자가 현재 건강 상태를 자신의 식습관과 체중을 통해 파악하고 더 나아가 식습관 관리를 통하여 건강 상태를 한 층 끌어올릴 수 있게 만들 수 있도록 한다</a:t>
              </a:r>
              <a:r>
                <a:rPr lang="en-US" altLang="ko-KR" sz="24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144541-120B-5BA1-17A3-A8530FB738F2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32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(1) </a:t>
              </a:r>
              <a:r>
                <a:rPr lang="ko-KR" altLang="en-US" sz="32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프로젝트 목적</a:t>
              </a:r>
              <a:endParaRPr lang="en-US" altLang="ko-KR" sz="3200" i="0" u="none" strike="noStrike" baseline="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9393036"/>
      </p:ext>
    </p:extLst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427C1-F78E-5A78-8A67-3B169A27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F5BDF00-3C3E-513A-8958-CB1FC8811D0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B59839D-3BE2-2C6E-ECD7-2C18A92E36C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1DA910-CDC2-8343-61E8-D1A0D3556BCD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5F87A2EF-1D2F-55B3-1064-3BDEFA9A131E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73436BE-23C6-4AC7-88D1-01C8C03C090A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0A9CE96-0E24-7BA7-C0C3-A754CB746C7C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86FE12C-3C5A-D990-D9F4-6EEDE09220D1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029A262-A3BE-B6BF-0EEA-15D51DEC3C60}"/>
              </a:ext>
            </a:extLst>
          </p:cNvPr>
          <p:cNvGrpSpPr/>
          <p:nvPr/>
        </p:nvGrpSpPr>
        <p:grpSpPr>
          <a:xfrm>
            <a:off x="551537" y="1675323"/>
            <a:ext cx="11088920" cy="4692422"/>
            <a:chOff x="551537" y="1675323"/>
            <a:chExt cx="11088920" cy="469242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F5415CF-3E1B-78FA-D7CD-3B59DB0BAC28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22B0DF-3B82-4F5F-3ECF-1DCB9E55D0EA}"/>
                </a:ext>
              </a:extLst>
            </p:cNvPr>
            <p:cNvSpPr txBox="1"/>
            <p:nvPr/>
          </p:nvSpPr>
          <p:spPr>
            <a:xfrm>
              <a:off x="1128486" y="3303674"/>
              <a:ext cx="9920514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사용 언어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:  Python 3.14</a:t>
              </a: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주요 라이브러리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: 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Tkinter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Json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파일 구성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: 1. main.py</a:t>
              </a: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                  2. Services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폴더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gui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operation, data manager)</a:t>
              </a:r>
            </a:p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	      3. Data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폴더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(backup 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폴더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records.json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</a:t>
              </a:r>
              <a:r>
                <a:rPr lang="en-US" altLang="ko-KR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food.json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)  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944890-B538-62AA-0F38-7B4B67853938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(2) </a:t>
              </a:r>
              <a:r>
                <a:rPr lang="ko-KR" altLang="en-US" sz="32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어플리케이션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 구성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BE1CDA5-FDE0-BB25-EF75-C8F822748006}"/>
              </a:ext>
            </a:extLst>
          </p:cNvPr>
          <p:cNvSpPr txBox="1"/>
          <p:nvPr/>
        </p:nvSpPr>
        <p:spPr>
          <a:xfrm>
            <a:off x="3556680" y="549617"/>
            <a:ext cx="50786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청춘 일상 다이어트 총력전</a:t>
            </a:r>
            <a:endParaRPr lang="en-US" altLang="ko-KR" sz="3600" b="1" dirty="0">
              <a:ln w="12700">
                <a:solidFill>
                  <a:srgbClr val="7E6DFF"/>
                </a:solidFill>
              </a:ln>
              <a:solidFill>
                <a:schemeClr val="bg1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latin typeface="Cafe24 Ohsquare" panose="02000A00000000000000" pitchFamily="2" charset="-127"/>
              <a:ea typeface="Cafe24 Ohsquare" panose="02000A00000000000000" pitchFamily="2" charset="-127"/>
            </a:endParaRPr>
          </a:p>
          <a:p>
            <a:pPr algn="ctr"/>
            <a:r>
              <a:rPr lang="en-US" altLang="ko-KR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&lt; 1. </a:t>
            </a:r>
            <a:r>
              <a:rPr lang="ko-KR" altLang="en-US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개요 </a:t>
            </a:r>
            <a:r>
              <a:rPr lang="en-US" altLang="ko-KR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&gt;</a:t>
            </a:r>
            <a:endParaRPr lang="ko-KR" altLang="en-US" sz="2000" b="1" dirty="0">
              <a:ln w="12700">
                <a:solidFill>
                  <a:srgbClr val="7E6DFF"/>
                </a:solidFill>
              </a:ln>
              <a:solidFill>
                <a:schemeClr val="bg1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latin typeface="Cafe24 Ohsquare" panose="02000A00000000000000" pitchFamily="2" charset="-127"/>
              <a:ea typeface="Cafe24 Ohsquare" panose="02000A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94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CE012-1025-84DA-8FA7-BDD66DD1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1BEF6C2-9CEC-09FA-8957-C8F578E8457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FA70779-CCBF-FB4F-C7AF-E952C8B00BC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064C24-B34C-9B85-A8E2-C7B0199209DD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E9DE0A4D-D25C-6E9D-203E-ECA13FC21C22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8579987-DC09-4B4A-AD71-718F4EE174C3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E59B783-9406-BDD9-96A0-CB9A91A0CB0B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84C07C0-5C13-94B9-7872-A97B8F65C8E9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0295865-252E-B3D0-750B-44A8FC763B6C}"/>
              </a:ext>
            </a:extLst>
          </p:cNvPr>
          <p:cNvGrpSpPr/>
          <p:nvPr/>
        </p:nvGrpSpPr>
        <p:grpSpPr>
          <a:xfrm>
            <a:off x="551537" y="1675323"/>
            <a:ext cx="11088920" cy="4692422"/>
            <a:chOff x="551537" y="1675323"/>
            <a:chExt cx="11088920" cy="469242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2B23B5E-4668-543C-8768-CD97FD4363AE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0C9E45-E303-3158-6D51-FCC33AEFA177}"/>
                </a:ext>
              </a:extLst>
            </p:cNvPr>
            <p:cNvSpPr txBox="1"/>
            <p:nvPr/>
          </p:nvSpPr>
          <p:spPr>
            <a:xfrm>
              <a:off x="3817257" y="3303674"/>
              <a:ext cx="454297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날짜별 식단 관리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음식 관리</a:t>
              </a:r>
              <a:endPara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식단 조회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L="457200" marR="0" lvl="0" indent="-45720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최근 체중 경향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,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목표 달성 여부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61F3C9-5920-B894-A4A2-60C9F791BCE4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(3) </a:t>
              </a:r>
              <a:r>
                <a:rPr lang="ko-KR" altLang="en-US" sz="32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주요 기능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35D0722-5080-3DFF-7D01-E7CCD286D892}"/>
              </a:ext>
            </a:extLst>
          </p:cNvPr>
          <p:cNvSpPr txBox="1"/>
          <p:nvPr/>
        </p:nvSpPr>
        <p:spPr>
          <a:xfrm>
            <a:off x="3556680" y="549617"/>
            <a:ext cx="50786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청춘 일상 다이어트 총력전</a:t>
            </a:r>
            <a:endParaRPr kumimoji="0" lang="en-US" altLang="ko-KR" sz="3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1. </a:t>
            </a:r>
            <a:r>
              <a:rPr kumimoji="0" lang="ko-KR" altLang="en-US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개요 </a:t>
            </a:r>
            <a:r>
              <a:rPr kumimoji="0" lang="en-US" altLang="ko-KR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20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12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13FC7-DE45-32D0-96F7-24725CDF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7354B18-4345-2BB7-9CEE-6F2D2DFEA99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609751D-4DE2-2365-138F-BF1EA30FD0F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A830A1-149D-3C32-2F99-51CEAA54D119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189D27F3-AE18-3719-1ADE-6C3ED29A5245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36B7F53-F8B2-FFFF-2896-DEE3E2395E03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A8A1717-A2C6-0617-AD7A-5CD38B292FA8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6A15892-7E78-3B97-5BBC-A4BB1631E845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9600F13-CFAD-1E9B-ACEF-59AA9DBC2461}"/>
              </a:ext>
            </a:extLst>
          </p:cNvPr>
          <p:cNvGrpSpPr/>
          <p:nvPr/>
        </p:nvGrpSpPr>
        <p:grpSpPr>
          <a:xfrm>
            <a:off x="551537" y="1675323"/>
            <a:ext cx="11088920" cy="4692422"/>
            <a:chOff x="551537" y="1675323"/>
            <a:chExt cx="11088920" cy="469242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8CE3DCC9-4EC4-04A3-404E-9FCBD1542C57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50A104-2184-7364-2FEE-5A4D09828B9C}"/>
                </a:ext>
              </a:extLst>
            </p:cNvPr>
            <p:cNvSpPr txBox="1"/>
            <p:nvPr/>
          </p:nvSpPr>
          <p:spPr>
            <a:xfrm>
              <a:off x="2322286" y="3518486"/>
              <a:ext cx="753291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해당 어플리케이션은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GitHub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를 통하여 </a:t>
              </a:r>
              <a:r>
                <a:rPr kumimoji="0" lang="ko-KR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베포하고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 있으며 버그가 발생되어 수정하는 경우 새로운 버전으로 </a:t>
              </a:r>
              <a:r>
                <a:rPr lang="ko-KR" altLang="en-US" sz="2400" dirty="0" err="1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재출시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할 예정이다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</a:t>
              </a:r>
            </a:p>
            <a:p>
              <a:pPr marR="0" lvl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  <a:p>
              <a:pPr marR="0" lvl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[GitHub Link] - https://github.com/Ovie-hex/Software-Project-P1-Group-5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477521-DF6D-1DBD-051D-F147C5E25F42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(4)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운영 및 유지 보수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8BD658A-457F-EDE9-36D5-B096F91DB8AC}"/>
              </a:ext>
            </a:extLst>
          </p:cNvPr>
          <p:cNvSpPr txBox="1"/>
          <p:nvPr/>
        </p:nvSpPr>
        <p:spPr>
          <a:xfrm>
            <a:off x="3556680" y="549617"/>
            <a:ext cx="50786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청춘 일상 다이어트 총력전</a:t>
            </a:r>
            <a:endParaRPr kumimoji="0" lang="en-US" altLang="ko-KR" sz="3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1. </a:t>
            </a:r>
            <a:r>
              <a:rPr kumimoji="0" lang="ko-KR" altLang="en-US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개요 </a:t>
            </a:r>
            <a:r>
              <a:rPr kumimoji="0" lang="en-US" altLang="ko-KR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20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21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74555-156E-17C2-337C-704FA36D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702F557-14B9-AEA0-FAB0-68B1EFD98EC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EF570C0-818A-BE51-97DA-B1C7AE5F780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B01665-B407-46CA-ECCD-A64D64CB65FD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735CF02D-564D-5ED4-22F3-2FCDC39866C2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B6DE540-18D2-2CDA-E628-3E60FC49E32D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A98162E-46A2-5B34-6BC0-8971B98804EB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6B00C49-B36C-0232-528B-E8F91A617D6E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2BC22-9B7C-F4ED-0348-0D6FEA56DC8A}"/>
              </a:ext>
            </a:extLst>
          </p:cNvPr>
          <p:cNvSpPr txBox="1"/>
          <p:nvPr/>
        </p:nvSpPr>
        <p:spPr>
          <a:xfrm>
            <a:off x="11056801" y="0"/>
            <a:ext cx="1167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2.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결과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B144B9-496F-3880-D15E-41B352ADB5E2}"/>
              </a:ext>
            </a:extLst>
          </p:cNvPr>
          <p:cNvSpPr/>
          <p:nvPr/>
        </p:nvSpPr>
        <p:spPr>
          <a:xfrm>
            <a:off x="5343526" y="446450"/>
            <a:ext cx="6630304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DD36B1A-DAB5-77B3-0356-2C9AC58340AF}"/>
              </a:ext>
            </a:extLst>
          </p:cNvPr>
          <p:cNvSpPr/>
          <p:nvPr/>
        </p:nvSpPr>
        <p:spPr>
          <a:xfrm>
            <a:off x="218170" y="446450"/>
            <a:ext cx="4907186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F73D3-85C2-DCFF-54F6-A53DCC6CD7B6}"/>
              </a:ext>
            </a:extLst>
          </p:cNvPr>
          <p:cNvSpPr txBox="1"/>
          <p:nvPr/>
        </p:nvSpPr>
        <p:spPr>
          <a:xfrm>
            <a:off x="5529944" y="705616"/>
            <a:ext cx="62701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1.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날짜별 식단 관리</a:t>
            </a:r>
            <a:endParaRPr lang="en-US" altLang="ko-KR" sz="24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457200" marR="0" lvl="0" indent="-4572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Both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날짜 조회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조회 버튼을 눌러 식단을 관리할 날짜를 선택 할 수 있다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(2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음식 관리 기능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각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시간대 별로 음식을 추가하고 잘못된 항목이 있는 경우 삭제가 가능하다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체중 입력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해당 날짜 기준 사용자의 체중을 입력한다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확인 버튼을 누르면 변경 내역이 반영되고 메인 버튼을 누르면 해당 변경 내역은 취소된다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DBA31D2-E900-ACFC-C4FA-489982289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67" y="705617"/>
            <a:ext cx="4106592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36700"/>
      </p:ext>
    </p:extLst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A91D5-65A4-2A3B-02F2-693292944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B854595-1C7F-084E-7CCD-5FE47269CE6B}"/>
              </a:ext>
            </a:extLst>
          </p:cNvPr>
          <p:cNvGrpSpPr/>
          <p:nvPr/>
        </p:nvGrpSpPr>
        <p:grpSpPr>
          <a:xfrm>
            <a:off x="32107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67CE763-7E6E-6BB6-67C8-75794E6EAE3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154395-C010-7872-0E5A-8D598C393876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B05B96E5-ECFC-93FB-FC9B-FED4793E5C6F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3506FF6-BCA1-C048-0D39-42F45039F283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AE4C7E6-4124-D374-0BD6-A90BC537A2D3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A14E834-E365-C594-C2D2-539034FF2FB1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1A129-BF4C-C2F1-522A-8C52CBEE71A1}"/>
              </a:ext>
            </a:extLst>
          </p:cNvPr>
          <p:cNvSpPr txBox="1"/>
          <p:nvPr/>
        </p:nvSpPr>
        <p:spPr>
          <a:xfrm>
            <a:off x="11056801" y="0"/>
            <a:ext cx="1167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2.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결과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E95D432-08AB-D47A-2189-406A5D091FFF}"/>
              </a:ext>
            </a:extLst>
          </p:cNvPr>
          <p:cNvSpPr/>
          <p:nvPr/>
        </p:nvSpPr>
        <p:spPr>
          <a:xfrm>
            <a:off x="5343526" y="446450"/>
            <a:ext cx="6630304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1F4B160-5327-3D72-BCC6-7E39E209AA2A}"/>
              </a:ext>
            </a:extLst>
          </p:cNvPr>
          <p:cNvSpPr/>
          <p:nvPr/>
        </p:nvSpPr>
        <p:spPr>
          <a:xfrm>
            <a:off x="218170" y="446450"/>
            <a:ext cx="4907186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2DA93F3-DB6C-218A-9C60-C684442C4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696685"/>
            <a:ext cx="4204020" cy="5792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CD59EE-53BF-45A5-33CC-68161A793342}"/>
              </a:ext>
            </a:extLst>
          </p:cNvPr>
          <p:cNvSpPr txBox="1"/>
          <p:nvPr/>
        </p:nvSpPr>
        <p:spPr>
          <a:xfrm>
            <a:off x="5529944" y="705616"/>
            <a:ext cx="627017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2.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음식 관리</a:t>
            </a:r>
            <a:endParaRPr lang="en-US" altLang="ko-KR" sz="24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457200" marR="0" lvl="0" indent="-4572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Both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음식 검색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사용자가 문자열을 입력하고 검색 버튼을 누르면 해당 문자열과 매칭되는 음식들을 조회한다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(2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음식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추가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음식의 이름과 열량을 입력하여 음식을 추가한다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그리고 해당 음식을 식단에 추가할 수 있다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음식 삭제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X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버튼을 눌러 음식을 삭제 시킨다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사용자의 실수를 방지하기 위해 삭제 여부를 물어본다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확인 버튼을 누르면 변경 내역이 반영되고 취소 버튼을 누르면 해당 변경 내역은 취소된다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52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AB68F-E404-7514-9E92-C4A67B1A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D9997FA-F478-CDEA-9F15-AD9E9BD826C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FB4C5CF-5AB1-D909-F979-61FAD6A26D5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7922A4-0999-6E00-9ADD-CE947B9DAC8D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DC99C41E-E225-7519-BD93-2F1475832973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7FCEB92-28B8-FB82-8C26-5E51C553F69A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DC567B7-911B-7572-1731-0121AF0AA3EB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3E08A11-B19E-DE9A-938A-3A3C50370620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2C9C9-B345-3C7A-8493-93490AE36158}"/>
              </a:ext>
            </a:extLst>
          </p:cNvPr>
          <p:cNvSpPr txBox="1"/>
          <p:nvPr/>
        </p:nvSpPr>
        <p:spPr>
          <a:xfrm>
            <a:off x="11056801" y="0"/>
            <a:ext cx="1167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2.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결과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4E294D2-6E16-87DC-D7A3-806A28F9F594}"/>
              </a:ext>
            </a:extLst>
          </p:cNvPr>
          <p:cNvSpPr/>
          <p:nvPr/>
        </p:nvSpPr>
        <p:spPr>
          <a:xfrm>
            <a:off x="5343526" y="446450"/>
            <a:ext cx="6630304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4EB0B3D-5CB1-7961-4F62-2F151F78A639}"/>
              </a:ext>
            </a:extLst>
          </p:cNvPr>
          <p:cNvSpPr/>
          <p:nvPr/>
        </p:nvSpPr>
        <p:spPr>
          <a:xfrm>
            <a:off x="218170" y="446450"/>
            <a:ext cx="4907186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8F610-8F1D-9136-9A90-8CCB25AEE9BD}"/>
              </a:ext>
            </a:extLst>
          </p:cNvPr>
          <p:cNvSpPr txBox="1"/>
          <p:nvPr/>
        </p:nvSpPr>
        <p:spPr>
          <a:xfrm>
            <a:off x="5529944" y="705616"/>
            <a:ext cx="62701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3.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식단 조회</a:t>
            </a:r>
            <a:endParaRPr lang="en-US" altLang="ko-KR" sz="24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457200" marR="0" lvl="0" indent="-4572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Both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날짜 선택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현재 날짜로부터 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년 전 까지의 날짜를 선택하여 해당 식단 표를 확인할 수 있다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(2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식단표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해당 날짜의 식단 및 총 섭취 열량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체중을 알 수 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1FBB11-6CC8-19F0-F96F-6A7B8BB79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55" y="627461"/>
            <a:ext cx="4346215" cy="591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37D01-4B4F-B298-5082-B299DD67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7E258B6-F657-97D5-45B3-71FE5D4DFC9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AE37E3E-0D28-B60C-F9E9-2D21D2E0404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36B7BF-92C2-27AD-2BAF-43B6D32038B4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58CFDA79-7F23-8F73-7683-B66362B0DED9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2629281-808F-2B7B-5021-5209BA0BEC7D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A224BFA-B774-7C87-FEB7-07376A8142ED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3A635C3-38FA-39EF-582E-4D460CF7B580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5CF8D-D087-8497-D791-871B67C65983}"/>
              </a:ext>
            </a:extLst>
          </p:cNvPr>
          <p:cNvSpPr txBox="1"/>
          <p:nvPr/>
        </p:nvSpPr>
        <p:spPr>
          <a:xfrm>
            <a:off x="11056801" y="0"/>
            <a:ext cx="1167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2.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결과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08D3249-575C-74A3-2FA8-814307BF76D4}"/>
              </a:ext>
            </a:extLst>
          </p:cNvPr>
          <p:cNvSpPr/>
          <p:nvPr/>
        </p:nvSpPr>
        <p:spPr>
          <a:xfrm>
            <a:off x="5343526" y="446450"/>
            <a:ext cx="6630304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CFFB9B2-9C8C-68A4-82C9-8A2B4190592F}"/>
              </a:ext>
            </a:extLst>
          </p:cNvPr>
          <p:cNvSpPr/>
          <p:nvPr/>
        </p:nvSpPr>
        <p:spPr>
          <a:xfrm>
            <a:off x="218170" y="446450"/>
            <a:ext cx="4907186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5B91880-55EA-A215-0B4C-F1CE808E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92" y="606118"/>
            <a:ext cx="4339142" cy="59617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854488-AB37-E7DE-203D-06DF632253F0}"/>
              </a:ext>
            </a:extLst>
          </p:cNvPr>
          <p:cNvSpPr txBox="1"/>
          <p:nvPr/>
        </p:nvSpPr>
        <p:spPr>
          <a:xfrm>
            <a:off x="5529944" y="705616"/>
            <a:ext cx="627017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4.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최근 체중 경향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목표 달성 여부</a:t>
            </a:r>
            <a:endParaRPr lang="en-US" altLang="ko-KR" sz="24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457200" marR="0" lvl="0" indent="-4572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Both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메인 페이지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현재 이 페이지가 프로그램 실행 할 때 먼저 나오는 페이지로 현재 날짜를 조회하여 식단 리포트를 반영한다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(2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최근 체중 변화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현재 날짜와 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주 전 사이의 식단이 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2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개 이상 존재하는 경우 그 두 날짜의 체중을 매칭하여 체중 변화를 볼 수 있다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목표 열량 설정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사용자가 열량을 입력하여 목표 칼로리를 변경할 수 있다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R="0" lvl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(4)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목표 달성 여부</a:t>
            </a:r>
            <a:endParaRPr lang="en-US" altLang="ko-KR" sz="20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목표 열량과 조회한 날짜의 총 섭취 열량을 비교하여 목표 열량 이하인 경우 성공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초과 시 실패로 표시한다</a:t>
            </a:r>
            <a:r>
              <a:rPr lang="en-US" altLang="ko-KR" sz="20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956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26512-1C6B-9627-C17F-C9675AB7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C0DA5D9-8632-6483-E03D-A88A4AE3184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EDA4219-AC92-1391-34DB-650955DFD73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747EC9-13A4-444D-EDF0-C234B893BCFA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77DA0CA4-2FAF-07B6-C95A-D5A6D4080832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6CEAE3B-4752-1CEB-5FB0-3FB39C67B34D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D68BF83-5ED6-A14B-65F8-2526B34A7E7F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1D3B4E5-3938-D1F9-C274-B79DEF391F31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063182-5120-C8EC-5612-BE3526E5BB40}"/>
              </a:ext>
            </a:extLst>
          </p:cNvPr>
          <p:cNvSpPr txBox="1"/>
          <p:nvPr/>
        </p:nvSpPr>
        <p:spPr>
          <a:xfrm>
            <a:off x="10601500" y="0"/>
            <a:ext cx="1590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3.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핵심 기술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DEE9DCB-1744-3AEC-429B-66C0C46A8684}"/>
              </a:ext>
            </a:extLst>
          </p:cNvPr>
          <p:cNvSpPr/>
          <p:nvPr/>
        </p:nvSpPr>
        <p:spPr>
          <a:xfrm>
            <a:off x="355600" y="1335314"/>
            <a:ext cx="4277630" cy="4424272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000" dirty="0">
              <a:solidFill>
                <a:schemeClr val="tx1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a = tk.TK()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b = </a:t>
            </a:r>
            <a:r>
              <a:rPr lang="en-US" altLang="ko-KR" sz="2000" dirty="0" err="1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tk.Label</a:t>
            </a: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(a, text = “11”)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C = </a:t>
            </a:r>
            <a:r>
              <a:rPr lang="en-US" altLang="ko-KR" sz="2000" dirty="0" err="1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tk.Button</a:t>
            </a: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(b, command = ...)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000" dirty="0">
              <a:solidFill>
                <a:schemeClr val="tx1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▼</a:t>
            </a:r>
            <a:endParaRPr lang="en-US" altLang="ko-KR" sz="2000" dirty="0">
              <a:solidFill>
                <a:schemeClr val="tx1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000" dirty="0">
              <a:solidFill>
                <a:schemeClr val="tx1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class Widget: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class Page: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schemeClr val="tx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class Window:</a:t>
            </a:r>
            <a:r>
              <a:rPr kumimoji="0" lang="en-US" altLang="ko-KR" sz="2000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       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class GUI: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C09260B-97C2-1088-5EEC-607B826F4F76}"/>
              </a:ext>
            </a:extLst>
          </p:cNvPr>
          <p:cNvSpPr/>
          <p:nvPr/>
        </p:nvSpPr>
        <p:spPr>
          <a:xfrm>
            <a:off x="4988830" y="446450"/>
            <a:ext cx="6985000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5D701-A9E2-96E8-CA38-43871062B5C3}"/>
              </a:ext>
            </a:extLst>
          </p:cNvPr>
          <p:cNvSpPr txBox="1"/>
          <p:nvPr/>
        </p:nvSpPr>
        <p:spPr>
          <a:xfrm>
            <a:off x="6256560" y="705617"/>
            <a:ext cx="4449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[ Cascade GUI </a:t>
            </a:r>
            <a:r>
              <a:rPr lang="en-US" altLang="ko-KR" sz="2400" dirty="0" err="1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Wraping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]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4041DF-C089-4BA9-99F5-0781D08C9D5C}"/>
              </a:ext>
            </a:extLst>
          </p:cNvPr>
          <p:cNvSpPr txBox="1"/>
          <p:nvPr/>
        </p:nvSpPr>
        <p:spPr>
          <a:xfrm>
            <a:off x="5529943" y="1555644"/>
            <a:ext cx="577668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1.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개요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단순히 </a:t>
            </a:r>
            <a:r>
              <a:rPr lang="en-US" altLang="ko-KR" sz="2400" dirty="0" err="1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Tkinter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객체를 무분별하게 사용하는 경우 코드의 설계가 거미줄 처럼 꼬이는 현상이 발생하고 혹여나 앱 사용자가 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GUI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에 의도치 않은 부하를 안기는 경우가 존재하여 사전에 이를 방지 하기 위해서 객체를 계층 별로 관리하기 위해 해당 기술을 만들었다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개발자는 이 설계를 만드는데 무려 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9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일이 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걸렸다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 ( 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사유 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하드코딩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, 400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줄 돌파 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)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156584"/>
      </p:ext>
    </p:extLst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E8070-3B44-40AD-2601-5D0F5253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1106930-F429-1B06-7117-70400E01801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9FE9786-C224-F8D5-FF8C-3ED31FBA0BB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A86368-E604-5174-85A6-08312EAB361F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544DB144-F1F4-48BB-1334-2D525CDD6417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06EBFF6-97F2-8F94-DD7D-7FE720D34E46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041A675-6AF4-B57F-C3DD-694FF3AF5854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C384372-A76C-88A7-3B64-9ACDCCD1C925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062F8-5610-934F-5B32-97C6F1E65CB3}"/>
              </a:ext>
            </a:extLst>
          </p:cNvPr>
          <p:cNvSpPr txBox="1"/>
          <p:nvPr/>
        </p:nvSpPr>
        <p:spPr>
          <a:xfrm>
            <a:off x="10601500" y="0"/>
            <a:ext cx="1590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3.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핵심 기술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C8D8652-64CB-BE35-C72E-B1B3003FCD1F}"/>
              </a:ext>
            </a:extLst>
          </p:cNvPr>
          <p:cNvSpPr/>
          <p:nvPr/>
        </p:nvSpPr>
        <p:spPr>
          <a:xfrm>
            <a:off x="355600" y="1335314"/>
            <a:ext cx="4277630" cy="4424272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class Widget: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pass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class Page: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pass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class Window: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pass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      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class GUI: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def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__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init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__(self):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　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. . .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40274DB-00F8-8C14-B307-303AF1C52F1B}"/>
              </a:ext>
            </a:extLst>
          </p:cNvPr>
          <p:cNvSpPr/>
          <p:nvPr/>
        </p:nvSpPr>
        <p:spPr>
          <a:xfrm>
            <a:off x="4988830" y="446450"/>
            <a:ext cx="6985000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EBACBC-4276-5B38-42C8-0503B3AF1178}"/>
              </a:ext>
            </a:extLst>
          </p:cNvPr>
          <p:cNvSpPr txBox="1"/>
          <p:nvPr/>
        </p:nvSpPr>
        <p:spPr>
          <a:xfrm>
            <a:off x="6256560" y="705617"/>
            <a:ext cx="4449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[ Cascade GUI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Wraping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4C8B21-F088-201D-F6FC-BA01BB86D6A5}"/>
              </a:ext>
            </a:extLst>
          </p:cNvPr>
          <p:cNvSpPr txBox="1"/>
          <p:nvPr/>
        </p:nvSpPr>
        <p:spPr>
          <a:xfrm>
            <a:off x="5529943" y="1555644"/>
            <a:ext cx="57766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.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설계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이 기술은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Tkinter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객체를 관리하는 클래스인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Widget, Page, Window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클래스와 해당 관리 클래스들의 객체를 정의할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GUI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클래스로 구성되어 있다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Window (Page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관리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Page (Widget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관리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)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Widget (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자신 및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Widget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관리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400" dirty="0">
              <a:solidFill>
                <a:srgbClr val="00000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GUI (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위 클래스의 배치 및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정의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3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5301D-3D1A-D20D-2792-0F87FC34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C7D3E84-E303-3B27-D95D-4FAB311FA0A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3FF540-0251-50CE-D259-D957C0FDD01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E40286-A9B0-5311-64A8-A888E3DF9ACC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F1A470E8-3569-DD95-96FE-819C5CEF2B5B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2DA1130-CA8A-CA3E-8FB2-9558F436FE61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8C5E970-FF2B-0DC9-FD5E-D4CDE437BA2D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483C8A6-1B24-3809-CA92-8E83646ACD85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8520C-764C-F628-F54A-39BC50F42BE4}"/>
              </a:ext>
            </a:extLst>
          </p:cNvPr>
          <p:cNvSpPr txBox="1"/>
          <p:nvPr/>
        </p:nvSpPr>
        <p:spPr>
          <a:xfrm>
            <a:off x="10601500" y="0"/>
            <a:ext cx="1590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3.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핵심 기술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0F1BD2-D2F7-7728-B38F-9B9A3AE36622}"/>
              </a:ext>
            </a:extLst>
          </p:cNvPr>
          <p:cNvSpPr/>
          <p:nvPr/>
        </p:nvSpPr>
        <p:spPr>
          <a:xfrm>
            <a:off x="355600" y="1335314"/>
            <a:ext cx="4277630" cy="4424272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class Widget: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　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def __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init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__(self, ...):</a:t>
            </a:r>
          </a:p>
          <a:p>
            <a:pPr lvl="0"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self._name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...</a:t>
            </a:r>
          </a:p>
          <a:p>
            <a:pPr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self._parent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...</a:t>
            </a:r>
          </a:p>
          <a:p>
            <a:pPr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self._obj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tk.Label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(...) </a:t>
            </a:r>
          </a:p>
          <a:p>
            <a:pPr lvl="0"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self._sync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...</a:t>
            </a:r>
          </a:p>
          <a:p>
            <a:pPr lvl="0"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self._event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...</a:t>
            </a:r>
          </a:p>
          <a:p>
            <a:pPr lvl="0"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  <a:p>
            <a:pPr lvl="0"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self.childWidgets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{}</a:t>
            </a:r>
          </a:p>
          <a:p>
            <a:pPr lvl="0"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self.activated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false</a:t>
            </a:r>
          </a:p>
          <a:p>
            <a:pPr lvl="0"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  <a:p>
            <a:pPr lvl="0"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def </a:t>
            </a:r>
            <a:r>
              <a:rPr lang="en-US" altLang="ko-KR" sz="2000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syncWidget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(self):</a:t>
            </a:r>
          </a:p>
          <a:p>
            <a:pPr lvl="0">
              <a:defRPr/>
            </a:pPr>
            <a:r>
              <a:rPr lang="ko-KR" altLang="en-US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sz="2000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pass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3B3470D-F825-CE72-D451-ACE73D075227}"/>
              </a:ext>
            </a:extLst>
          </p:cNvPr>
          <p:cNvSpPr/>
          <p:nvPr/>
        </p:nvSpPr>
        <p:spPr>
          <a:xfrm>
            <a:off x="4988830" y="446450"/>
            <a:ext cx="6985000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38B6C8-C4EC-62D7-83E4-FB2B462C0BA6}"/>
              </a:ext>
            </a:extLst>
          </p:cNvPr>
          <p:cNvSpPr txBox="1"/>
          <p:nvPr/>
        </p:nvSpPr>
        <p:spPr>
          <a:xfrm>
            <a:off x="6256560" y="705617"/>
            <a:ext cx="4449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[ Cascade GUI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Wraping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792405-0ED3-C2A7-FA7F-28D6D9D1E617}"/>
              </a:ext>
            </a:extLst>
          </p:cNvPr>
          <p:cNvSpPr txBox="1"/>
          <p:nvPr/>
        </p:nvSpPr>
        <p:spPr>
          <a:xfrm>
            <a:off x="5529943" y="1555644"/>
            <a:ext cx="577668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.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주요 내용 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(1)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객체 관리 클래스들은 각각 참조할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GUI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객체와 이름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그리고 관리 객체의 </a:t>
            </a:r>
            <a:r>
              <a:rPr lang="ko-KR" altLang="en-US" sz="2400" dirty="0" err="1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딕셔너리를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 멤버로 가지며 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Widget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클래스의 경우 가장 하위 클래스로 해당 클래스의 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GUI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객체의 동기화 함수와 이벤트 함수를 가진다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 상위 객체가 동기화 함수를 사용하는 경우 나머지 자식의 동기화 함수도 계층적으로 자동으로 적용되고 이벤트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함수를 발동하는 경우 해당 함수가 끝날 때 까지 호출되지 않게 설계를 하여 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GUI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에 안정성을 보장한다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90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124F9-B071-FB35-1EA7-4ABD65D4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F5DFA8A-2FA6-4219-FC6F-E936EA33D1C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BD8BF44-1E04-855E-7D67-5EAA409F399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FBD84F-E038-528A-3B3E-ECE8CA8DCBDF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295160C8-A137-F038-4B4B-1A8EFFD2C702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D54587E-F5F1-908D-7440-86F6442635A1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FF82F48-3D1C-22BD-F355-4FBA5EB824B0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E56F272-9F35-8E4C-9CE9-6A0E3F9DE146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5DC69-7BA2-70CD-D2CA-667D2E4CE118}"/>
              </a:ext>
            </a:extLst>
          </p:cNvPr>
          <p:cNvSpPr txBox="1"/>
          <p:nvPr/>
        </p:nvSpPr>
        <p:spPr>
          <a:xfrm>
            <a:off x="10601500" y="0"/>
            <a:ext cx="1590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3. </a:t>
            </a:r>
            <a:r>
              <a:rPr kumimoji="0" lang="ko-KR" altLang="en-US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핵심 기술 </a:t>
            </a:r>
            <a:r>
              <a:rPr kumimoji="0" lang="en-US" altLang="ko-KR" sz="1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1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61901D-903C-498C-3324-BD965C9DC17B}"/>
              </a:ext>
            </a:extLst>
          </p:cNvPr>
          <p:cNvSpPr/>
          <p:nvPr/>
        </p:nvSpPr>
        <p:spPr>
          <a:xfrm>
            <a:off x="355600" y="1335314"/>
            <a:ext cx="4277630" cy="4424272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class Widget: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black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@property # Read Only</a:t>
            </a:r>
          </a:p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def</a:t>
            </a: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parent(self):</a:t>
            </a:r>
          </a:p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return </a:t>
            </a:r>
            <a:r>
              <a:rPr lang="en-US" altLang="ko-KR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self._parent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　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rPr>
              <a:t>@p</a:t>
            </a:r>
            <a:r>
              <a:rPr lang="en-US" altLang="ko-KR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roperty</a:t>
            </a:r>
            <a:endParaRPr lang="en-US" altLang="ko-KR" dirty="0">
              <a:solidFill>
                <a:prstClr val="black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def sync(self):</a:t>
            </a:r>
          </a:p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return </a:t>
            </a:r>
            <a:r>
              <a:rPr lang="en-US" altLang="ko-KR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self._sync</a:t>
            </a:r>
            <a:endParaRPr lang="en-US" altLang="ko-KR" dirty="0">
              <a:solidFill>
                <a:prstClr val="black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>
              <a:defRPr/>
            </a:pPr>
            <a:endParaRPr lang="en-US" altLang="ko-KR" dirty="0">
              <a:solidFill>
                <a:prstClr val="black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@sync.setter</a:t>
            </a:r>
          </a:p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def sync(self, </a:t>
            </a:r>
            <a:r>
              <a:rPr lang="en-US" altLang="ko-KR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new_sync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):</a:t>
            </a:r>
          </a:p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self._sync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 = </a:t>
            </a:r>
            <a:r>
              <a:rPr lang="en-US" altLang="ko-KR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new_sync</a:t>
            </a:r>
            <a:endParaRPr lang="en-US" altLang="ko-KR" dirty="0">
              <a:solidFill>
                <a:prstClr val="black"/>
              </a:solidFill>
              <a:latin typeface="Cafe24 Ohsquare air Light" panose="02000300000000000000" pitchFamily="2" charset="-127"/>
              <a:ea typeface="Cafe24 Ohsquare air Light" panose="02000300000000000000" pitchFamily="2" charset="-127"/>
            </a:endParaRPr>
          </a:p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　　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self._</a:t>
            </a:r>
            <a:r>
              <a:rPr lang="en-US" altLang="ko-KR" dirty="0" err="1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obj.config</a:t>
            </a:r>
            <a:r>
              <a:rPr lang="en-US" altLang="ko-KR" dirty="0">
                <a:solidFill>
                  <a:prstClr val="black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rPr>
              <a:t>(...)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FB4E41D-0CD9-B701-FBB4-8B007F77935E}"/>
              </a:ext>
            </a:extLst>
          </p:cNvPr>
          <p:cNvSpPr/>
          <p:nvPr/>
        </p:nvSpPr>
        <p:spPr>
          <a:xfrm>
            <a:off x="4988830" y="446450"/>
            <a:ext cx="6985000" cy="6202000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ln>
            <a:noFill/>
          </a:ln>
          <a:effectLst>
            <a:outerShdw blurRad="546100" sx="98000" sy="98000" algn="ctr" rotWithShape="0">
              <a:srgbClr val="00006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afe24 Ohsquare air Light" panose="02000300000000000000" pitchFamily="2" charset="-127"/>
              <a:ea typeface="Cafe24 Ohsquare air Light" panose="02000300000000000000" pitchFamily="2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9E308-FCAB-B9D7-A09B-4043DE701648}"/>
              </a:ext>
            </a:extLst>
          </p:cNvPr>
          <p:cNvSpPr txBox="1"/>
          <p:nvPr/>
        </p:nvSpPr>
        <p:spPr>
          <a:xfrm>
            <a:off x="6256560" y="705617"/>
            <a:ext cx="4449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[ Cascade GUI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Wraping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E5A14-3A35-1171-FAE0-D677B255B7A3}"/>
              </a:ext>
            </a:extLst>
          </p:cNvPr>
          <p:cNvSpPr txBox="1"/>
          <p:nvPr/>
        </p:nvSpPr>
        <p:spPr>
          <a:xfrm>
            <a:off x="5529943" y="1555644"/>
            <a:ext cx="57766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3.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주요 내용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(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2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)</a:t>
            </a: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rPr>
              <a:t>대부분의 객체 관리 클래스들은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멤버 변수의 값을 바꾸는 경우 해당 멤버 변수에 맞게 클래스가 참조하고 있는 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GUI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객체의 구성도 바뀌게 된다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 </a:t>
            </a:r>
            <a:r>
              <a:rPr lang="ko-KR" altLang="en-US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다만 일부 변수는 읽기 전용으로 구조상으로 변경해서 안되는 값을 가진다</a:t>
            </a:r>
            <a:r>
              <a:rPr lang="en-US" altLang="ko-KR" sz="240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45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5FA7C-B579-6C09-D7DD-E9239AB9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3F9B4B0-F170-8094-480E-E38D280A6E1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D747EB2-41E3-5C26-A59B-BE8296B4EB7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D31359-C830-43AE-CBFD-5F70DF006D0B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E8BDC57C-A222-0FFE-284F-BB20E71643FC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C588A99-DFDD-5F07-B09F-9064E6FEA564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9F90A8B-405F-ED7F-1BA3-BCC9B4A4CF38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C050CB7-57D9-9FC7-79AF-162FE33757C9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39542-F0D9-90FA-4CC3-F93FA15B1C0B}"/>
              </a:ext>
            </a:extLst>
          </p:cNvPr>
          <p:cNvSpPr txBox="1"/>
          <p:nvPr/>
        </p:nvSpPr>
        <p:spPr>
          <a:xfrm>
            <a:off x="3556680" y="549617"/>
            <a:ext cx="50786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청춘 일상 다이어트 총력전</a:t>
            </a:r>
            <a:endParaRPr lang="en-US" altLang="ko-KR" sz="3600" b="1" dirty="0">
              <a:ln w="12700">
                <a:solidFill>
                  <a:srgbClr val="7E6DFF"/>
                </a:solidFill>
              </a:ln>
              <a:solidFill>
                <a:schemeClr val="bg1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latin typeface="Cafe24 Ohsquare" panose="02000A00000000000000" pitchFamily="2" charset="-127"/>
              <a:ea typeface="Cafe24 Ohsquare" panose="02000A00000000000000" pitchFamily="2" charset="-127"/>
            </a:endParaRPr>
          </a:p>
          <a:p>
            <a:pPr algn="ctr"/>
            <a:r>
              <a:rPr lang="en-US" altLang="ko-KR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&lt; 4. </a:t>
            </a:r>
            <a:r>
              <a:rPr lang="ko-KR" altLang="en-US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자체 평가 및 감상 </a:t>
            </a:r>
            <a:r>
              <a:rPr lang="en-US" altLang="ko-KR" sz="2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latin typeface="Cafe24 Ohsquare" panose="02000A00000000000000" pitchFamily="2" charset="-127"/>
                <a:ea typeface="Cafe24 Ohsquare" panose="02000A00000000000000" pitchFamily="2" charset="-127"/>
              </a:rPr>
              <a:t>&gt;</a:t>
            </a:r>
            <a:endParaRPr lang="ko-KR" altLang="en-US" sz="2000" b="1" dirty="0">
              <a:ln w="12700">
                <a:solidFill>
                  <a:srgbClr val="7E6DFF"/>
                </a:solidFill>
              </a:ln>
              <a:solidFill>
                <a:schemeClr val="bg1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latin typeface="Cafe24 Ohsquare" panose="02000A00000000000000" pitchFamily="2" charset="-127"/>
              <a:ea typeface="Cafe24 Ohsquare" panose="02000A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AB07358-2589-B595-D498-F4CB2E7E1A92}"/>
              </a:ext>
            </a:extLst>
          </p:cNvPr>
          <p:cNvGrpSpPr/>
          <p:nvPr/>
        </p:nvGrpSpPr>
        <p:grpSpPr>
          <a:xfrm>
            <a:off x="551537" y="1675323"/>
            <a:ext cx="11088920" cy="4692422"/>
            <a:chOff x="551537" y="1675323"/>
            <a:chExt cx="11088920" cy="469242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FDF8E45-36BA-E865-C74C-EE5107259CEB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0066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CC8ACB-B10C-FDAC-3AC3-D4C1D1ABB798}"/>
                </a:ext>
              </a:extLst>
            </p:cNvPr>
            <p:cNvSpPr txBox="1"/>
            <p:nvPr/>
          </p:nvSpPr>
          <p:spPr>
            <a:xfrm>
              <a:off x="1362075" y="3051321"/>
              <a:ext cx="9453336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sz="24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이 프로젝트를 통하여 객체 지향 프로그래밍이 어떻게 쓰이는지 어느 정도 되어 설계 능력이 더욱 향상 되었다는 점이다</a:t>
              </a:r>
              <a:r>
                <a:rPr lang="en-US" altLang="ko-KR" sz="24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</a:t>
              </a:r>
            </a:p>
            <a:p>
              <a:pPr algn="just"/>
              <a:endParaRPr lang="en-US" altLang="ko-KR" sz="2400" i="0" u="none" strike="noStrike" baseline="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just"/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</a:t>
              </a:r>
              <a:r>
                <a:rPr lang="ko-KR" altLang="en-US" sz="24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다만 아쉬운 점은 계층 관리 클래스를 상속이 가능한 형태로 가공하여 자식 클래스로 정의를 했으면 코드줄이 그보다 짧아 졌을 것이라 생각하지만 시간이 촉박하여서 이 부분 까지는 구현을 못했다는 점이 아쉽다</a:t>
              </a:r>
              <a:r>
                <a:rPr lang="en-US" altLang="ko-KR" sz="24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 </a:t>
              </a:r>
              <a:r>
                <a:rPr lang="ko-KR" altLang="en-US" sz="24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또한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event 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연결의 경우 버그가 존재하여 그 부분은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AI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를 사용하여 해결했다는 점에서 내가 전부 못 만들었다는 것이 아쉽다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</a:t>
              </a:r>
              <a:endParaRPr lang="en-US" altLang="ko-KR" sz="2400" i="0" u="none" strike="noStrike" baseline="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E8E70E-00ED-8E94-4100-DC0434715510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32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(1) </a:t>
              </a:r>
              <a:r>
                <a:rPr lang="ko-KR" altLang="en-US" sz="3200" i="0" u="none" strike="noStrike" baseline="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좋은 점 </a:t>
              </a:r>
              <a:r>
                <a:rPr lang="ko-KR" altLang="en-US" sz="32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및 아쉬운 점</a:t>
              </a:r>
              <a:endParaRPr lang="en-US" altLang="ko-KR" sz="3200" i="0" u="none" strike="noStrike" baseline="0" dirty="0">
                <a:solidFill>
                  <a:srgbClr val="00000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9717325"/>
      </p:ext>
    </p:extLst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423B3-80AB-CB3D-0C44-56E0A5D5D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2DDB2B8-5E41-1A90-6632-1C221E2F49A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19D5258-C776-159B-01FF-D3993FF093A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50EC66-C8A0-0106-BD0F-C468285F2FBB}"/>
                </a:ext>
              </a:extLst>
            </p:cNvPr>
            <p:cNvSpPr txBox="1"/>
            <p:nvPr/>
          </p:nvSpPr>
          <p:spPr>
            <a:xfrm>
              <a:off x="0" y="0"/>
              <a:ext cx="31494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소프트웨어프로젝트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-02 /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문제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 Group 5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7E6DFF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26FC0687-0FDA-8AD6-60A2-E803F5254D89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BFADA69-921B-D3DC-0053-D8578D872786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D30A9F6-2AC3-F6F2-4355-DC64EF11E1C8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0BD24E7-4F37-E1D5-5D6F-1BE1356FEB81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5FCFF-495B-B2F3-341C-8FB8CDEF8BFE}"/>
              </a:ext>
            </a:extLst>
          </p:cNvPr>
          <p:cNvSpPr txBox="1"/>
          <p:nvPr/>
        </p:nvSpPr>
        <p:spPr>
          <a:xfrm>
            <a:off x="3556680" y="549617"/>
            <a:ext cx="50786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청춘 일상 다이어트 총력전</a:t>
            </a:r>
            <a:endParaRPr kumimoji="0" lang="en-US" altLang="ko-KR" sz="36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&lt; 4. </a:t>
            </a:r>
            <a:r>
              <a:rPr kumimoji="0" lang="ko-KR" altLang="en-US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자체 평가 및 감상 </a:t>
            </a:r>
            <a:r>
              <a:rPr kumimoji="0" lang="en-US" altLang="ko-KR" sz="2000" b="1" i="0" u="none" strike="noStrike" kern="1200" cap="none" spc="0" normalizeH="0" baseline="0" noProof="0" dirty="0">
                <a:ln w="12700">
                  <a:solidFill>
                    <a:srgbClr val="7E6DFF"/>
                  </a:solidFill>
                </a:ln>
                <a:solidFill>
                  <a:prstClr val="white"/>
                </a:solidFill>
                <a:effectLst>
                  <a:outerShdw blurRad="190500" dist="38100" dir="18900000" algn="bl" rotWithShape="0">
                    <a:srgbClr val="000066">
                      <a:alpha val="19000"/>
                    </a:srgbClr>
                  </a:outerShdw>
                </a:effectLst>
                <a:uLnTx/>
                <a:uFillTx/>
                <a:latin typeface="Cafe24 Ohsquare" panose="02000A00000000000000" pitchFamily="2" charset="-127"/>
                <a:ea typeface="Cafe24 Ohsquare" panose="02000A00000000000000" pitchFamily="2" charset="-127"/>
                <a:cs typeface="+mn-cs"/>
              </a:rPr>
              <a:t>&gt;</a:t>
            </a:r>
            <a:endParaRPr kumimoji="0" lang="ko-KR" altLang="en-US" sz="2000" b="1" i="0" u="none" strike="noStrike" kern="1200" cap="none" spc="0" normalizeH="0" baseline="0" noProof="0" dirty="0">
              <a:ln w="12700">
                <a:solidFill>
                  <a:srgbClr val="7E6DFF"/>
                </a:solidFill>
              </a:ln>
              <a:solidFill>
                <a:prstClr val="white"/>
              </a:solidFill>
              <a:effectLst>
                <a:outerShdw blurRad="190500" dist="38100" dir="18900000" algn="bl" rotWithShape="0">
                  <a:srgbClr val="000066">
                    <a:alpha val="19000"/>
                  </a:srgbClr>
                </a:outerShdw>
              </a:effectLst>
              <a:uLnTx/>
              <a:uFillTx/>
              <a:latin typeface="Cafe24 Ohsquare" panose="02000A00000000000000" pitchFamily="2" charset="-127"/>
              <a:ea typeface="Cafe24 Ohsquare" panose="02000A00000000000000" pitchFamily="2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CE17502-DE35-EEB7-7D00-4455EDA20166}"/>
              </a:ext>
            </a:extLst>
          </p:cNvPr>
          <p:cNvGrpSpPr/>
          <p:nvPr/>
        </p:nvGrpSpPr>
        <p:grpSpPr>
          <a:xfrm>
            <a:off x="551537" y="1675323"/>
            <a:ext cx="11088920" cy="4692422"/>
            <a:chOff x="551537" y="1675323"/>
            <a:chExt cx="11088920" cy="469242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A73385C2-1BEA-3548-64ED-ED30E22A5F01}"/>
                </a:ext>
              </a:extLst>
            </p:cNvPr>
            <p:cNvSpPr/>
            <p:nvPr/>
          </p:nvSpPr>
          <p:spPr>
            <a:xfrm>
              <a:off x="551537" y="1675323"/>
              <a:ext cx="11088920" cy="4692422"/>
            </a:xfrm>
            <a:prstGeom prst="roundRect">
              <a:avLst>
                <a:gd name="adj" fmla="val 8625"/>
              </a:avLst>
            </a:prstGeom>
            <a:solidFill>
              <a:schemeClr val="bg1"/>
            </a:solidFill>
            <a:ln>
              <a:noFill/>
            </a:ln>
            <a:effectLst>
              <a:outerShdw blurRad="546100" sx="98000" sy="98000" algn="ctr" rotWithShape="0">
                <a:srgbClr val="000066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B34F66-EF8B-62E6-EE29-107B41FAED70}"/>
                </a:ext>
              </a:extLst>
            </p:cNvPr>
            <p:cNvSpPr txBox="1"/>
            <p:nvPr/>
          </p:nvSpPr>
          <p:spPr>
            <a:xfrm>
              <a:off x="1362075" y="3303674"/>
              <a:ext cx="9453336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 예전에는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AI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없이 프로그램 개발을 하고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2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학년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1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학기 때 데이터베이스 기간 프로젝트로 처음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AI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에게 모든 것을 맡겼을 때는 코드가 뒤죽박죽에 버그가 많았으나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지금은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AI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가 내 설계에 따라 코드를 짜줘서 버그가 많이 줄어들고 성능도 대폭 상승하였다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결국은 설계에 심혈을 기울여 구성을 해야만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AI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도 이에 따른 성능 상승이 이루어 진다는 사실을 알았다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 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시니어 개발자가 왜 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AI</a:t>
              </a:r>
              <a:r>
                <a:rPr lang="ko-KR" altLang="en-US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를 계속 쓰는지를 알게 되는 것은 덤이다</a:t>
              </a:r>
              <a:r>
                <a:rPr lang="en-US" altLang="ko-KR" sz="2400" dirty="0">
                  <a:solidFill>
                    <a:srgbClr val="000000"/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.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EE91FA-C8B2-DE09-1D93-1B7366BF4C3C}"/>
                </a:ext>
              </a:extLst>
            </p:cNvPr>
            <p:cNvSpPr txBox="1"/>
            <p:nvPr/>
          </p:nvSpPr>
          <p:spPr>
            <a:xfrm>
              <a:off x="1362075" y="2197111"/>
              <a:ext cx="94533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(2)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B 어그로 Light" panose="02020603020101020101" pitchFamily="18" charset="-127"/>
                  <a:ea typeface="SB 어그로 Light" panose="02020603020101020101" pitchFamily="18" charset="-127"/>
                  <a:cs typeface="+mn-cs"/>
                </a:rPr>
                <a:t>총평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626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DBDFF"/>
            </a:gs>
            <a:gs pos="100000">
              <a:srgbClr val="7E6D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7C7AD-9A4D-7C6A-E076-AB5F6310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862871-DE9B-59F2-DD32-FDBED96635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4D32A-88A4-BE19-7BA2-192A6CB24C9B}"/>
              </a:ext>
            </a:extLst>
          </p:cNvPr>
          <p:cNvSpPr txBox="1"/>
          <p:nvPr/>
        </p:nvSpPr>
        <p:spPr>
          <a:xfrm>
            <a:off x="0" y="0"/>
            <a:ext cx="3149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E6D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소프트웨어프로젝트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7E6D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-02 /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E6D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7E6D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 Group 5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E6D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0FFBB9-BAB9-6AA6-B3C5-29C44DC58511}"/>
              </a:ext>
            </a:extLst>
          </p:cNvPr>
          <p:cNvSpPr/>
          <p:nvPr/>
        </p:nvSpPr>
        <p:spPr>
          <a:xfrm>
            <a:off x="355600" y="-939800"/>
            <a:ext cx="203200" cy="203200"/>
          </a:xfrm>
          <a:prstGeom prst="ellipse">
            <a:avLst/>
          </a:prstGeom>
          <a:solidFill>
            <a:srgbClr val="AE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1F4D054-43FD-AA25-BA80-6131F8D478CC}"/>
              </a:ext>
            </a:extLst>
          </p:cNvPr>
          <p:cNvSpPr/>
          <p:nvPr/>
        </p:nvSpPr>
        <p:spPr>
          <a:xfrm>
            <a:off x="914400" y="-939800"/>
            <a:ext cx="203200" cy="203200"/>
          </a:xfrm>
          <a:prstGeom prst="ellipse">
            <a:avLst/>
          </a:prstGeom>
          <a:solidFill>
            <a:srgbClr val="7E6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097B28C-DDBD-F4A0-8EFC-DF95CE19C027}"/>
              </a:ext>
            </a:extLst>
          </p:cNvPr>
          <p:cNvSpPr/>
          <p:nvPr/>
        </p:nvSpPr>
        <p:spPr>
          <a:xfrm>
            <a:off x="1574726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07E555C-5F48-A7C7-A95A-4537CA2DA4C0}"/>
              </a:ext>
            </a:extLst>
          </p:cNvPr>
          <p:cNvSpPr/>
          <p:nvPr/>
        </p:nvSpPr>
        <p:spPr>
          <a:xfrm>
            <a:off x="2235052" y="-939800"/>
            <a:ext cx="203200" cy="203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7CAE7-E2C9-1D9D-9F45-11FDD85965C7}"/>
              </a:ext>
            </a:extLst>
          </p:cNvPr>
          <p:cNvSpPr txBox="1"/>
          <p:nvPr/>
        </p:nvSpPr>
        <p:spPr>
          <a:xfrm>
            <a:off x="4130558" y="2921168"/>
            <a:ext cx="3930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latin typeface="Cafe24 Ohsquare" panose="02000A00000000000000" pitchFamily="2" charset="-127"/>
                <a:ea typeface="Cafe24 Ohsquare" panose="02000A00000000000000" pitchFamily="2" charset="-127"/>
              </a:rPr>
              <a:t>감사합니다</a:t>
            </a:r>
            <a:r>
              <a:rPr lang="en-US" altLang="ko-KR" sz="6000" b="1" dirty="0">
                <a:ln w="12700">
                  <a:solidFill>
                    <a:srgbClr val="7E6DFF"/>
                  </a:solidFill>
                </a:ln>
                <a:solidFill>
                  <a:schemeClr val="bg1"/>
                </a:solidFill>
                <a:latin typeface="Cafe24 Ohsquare" panose="02000A00000000000000" pitchFamily="2" charset="-127"/>
                <a:ea typeface="Cafe24 Ohsquare" panose="02000A00000000000000" pitchFamily="2" charset="-127"/>
              </a:rPr>
              <a:t>!</a:t>
            </a:r>
            <a:endParaRPr lang="ko-KR" altLang="en-US" sz="6000" b="1" dirty="0">
              <a:ln w="12700">
                <a:solidFill>
                  <a:srgbClr val="7E6DFF"/>
                </a:solidFill>
              </a:ln>
              <a:solidFill>
                <a:schemeClr val="bg1"/>
              </a:solidFill>
              <a:latin typeface="Cafe24 Ohsquare" panose="02000A00000000000000" pitchFamily="2" charset="-127"/>
              <a:ea typeface="Cafe24 Ohsquare" panose="02000A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9783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1444</Words>
  <Application>Microsoft Office PowerPoint</Application>
  <PresentationFormat>와이드스크린</PresentationFormat>
  <Paragraphs>207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Cafe24 Ohsquare</vt:lpstr>
      <vt:lpstr>Cafe24 Ohsquare air Light</vt:lpstr>
      <vt:lpstr>SB 어그로 Light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00 Comatine</dc:creator>
  <cp:lastModifiedBy>00 Comatine</cp:lastModifiedBy>
  <cp:revision>34</cp:revision>
  <dcterms:created xsi:type="dcterms:W3CDTF">2026-09-26T08:20:18Z</dcterms:created>
  <dcterms:modified xsi:type="dcterms:W3CDTF">2026-09-27T05:26:11Z</dcterms:modified>
</cp:coreProperties>
</file>